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</ns0:sldIdLst>
  <ns0:sldSz cx="12192000" cy="6858000" type="screen4x3"/>
  <ns0:notesSz cx="6858000" cy="9144000"/>
  <ns0:embeddedFontLst>
    <ns0:embeddedFont>
      <ns0:font typeface="Plus Jakarta Sans"/>
      <ns0:bold ns1:id="rIdFont12"/>
      <ns0:regular ns1:id="rIdFont13"/>
    </ns0:embeddedFont>
    <ns0:embeddedFont>
      <ns0:font typeface="Space Grotesk"/>
      <ns0:bold ns1:id="rIdFont14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Font12" Type="http://schemas.openxmlformats.org/officeDocument/2006/relationships/font" Target="fonts/ea84eed5-3c03-42f7-b947-d61846f16248.fntdata" /><ns0:Relationship Id="rIdFont13" Type="http://schemas.openxmlformats.org/officeDocument/2006/relationships/font" Target="fonts/1c18643a-b9e9-455b-89f3-f662d7245fbb.fntdata" /><ns0:Relationship Id="rIdFont14" Type="http://schemas.openxmlformats.org/officeDocument/2006/relationships/font" Target="fonts/66b5bd49-a4bf-4eee-9d79-b42b66dd3769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5981402"/>
            <a:ext cx="109728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0" y="538162"/>
            <a:ext cx="2895600" cy="333375"/>
          </a:xfrm>
          <a:prstGeom prst="roundRect">
            <a:avLst>
              <a:gd name="adj" fmla="val 50000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594026"/>
            <a:ext cx="3505200" cy="742950"/>
          </a:xfrm>
          <a:prstGeom prst="roundRect">
            <a:avLst>
              <a:gd name="adj" fmla="val 153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43400" y="4594026"/>
            <a:ext cx="3505200" cy="742950"/>
          </a:xfrm>
          <a:prstGeom prst="roundRect">
            <a:avLst>
              <a:gd name="adj" fmla="val 153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77200" y="4594026"/>
            <a:ext cx="3505200" cy="742950"/>
          </a:xfrm>
          <a:prstGeom prst="roundRect">
            <a:avLst>
              <a:gd name="adj" fmla="val 153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5981402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533400"/>
            <a:ext cx="342900" cy="3429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25" y="619125"/>
            <a:ext cx="171450" cy="171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858250" y="595312"/>
            <a:ext cx="264795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NIST AI RMF 1.0 &amp; OWASP LLM COMPLIANT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2035075"/>
            <a:ext cx="9701212" cy="1095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12"/>
              </a:lnSpc>
            </a:pPr>
            <a:r>
              <a:rPr b="1" sz="3750" i="0" u="none">
                <a:solidFill>
                  <a:srgbClr val="0F172A"/>
                </a:solidFill>
                <a:latin typeface="Space Grotesk"/>
              </a:rPr>
              <a:t>Security Evaluation &amp; Red-Teaming for Neural Transformers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3282850"/>
            <a:ext cx="7905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475569"/>
                </a:solidFill>
                <a:latin typeface="Plus Jakarta Sans"/>
              </a:rPr>
              <a:t>Automated stress-testing, goal-misalignment probing, and defense verification for enterprise neural inference architectures.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4765476"/>
            <a:ext cx="32194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TARGET SYSTEM</a:t>
            </a:r>
            <a:r>
              <a:rPr b="1" sz="900" i="0" u="none">
                <a:solidFill>
                  <a:srgbClr val="64748B"/>
                </a:solidFill>
                <a:latin typeface="Plus Jakarta Sans"/>
              </a:rPr>
              <a:t> </a:t>
            </a:r>
            <a:r>
              <a:rPr b="1" sz="1125" i="0" u="none">
                <a:solidFill>
                  <a:srgbClr val="0F172A"/>
                </a:solidFill>
                <a:latin typeface="Plus Jakarta Sans"/>
              </a:rPr>
              <a:t>Transformer 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3900" y="4765476"/>
            <a:ext cx="32194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EVALUATION SUITE</a:t>
            </a:r>
            <a:r>
              <a:rPr b="1" sz="900" i="0" u="none">
                <a:solidFill>
                  <a:srgbClr val="64748B"/>
                </a:solidFill>
                <a:latin typeface="Plus Jakarta Sans"/>
              </a:rPr>
              <a:t> </a:t>
            </a:r>
            <a:r>
              <a:rPr b="1" sz="1125" i="0" u="none">
                <a:solidFill>
                  <a:srgbClr val="0F172A"/>
                </a:solidFill>
                <a:latin typeface="Plus Jakarta Sans"/>
              </a:rPr>
              <a:t>15,000+ Attack Vectors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7700" y="4765476"/>
            <a:ext cx="32194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VERIFICATION CADENCE</a:t>
            </a:r>
            <a:r>
              <a:rPr b="1" sz="900" i="0" u="none">
                <a:solidFill>
                  <a:srgbClr val="64748B"/>
                </a:solidFill>
                <a:latin typeface="Plus Jakarta Sans"/>
              </a:rPr>
              <a:t> </a:t>
            </a:r>
            <a:r>
              <a:rPr b="1" sz="1125" i="0" u="none">
                <a:solidFill>
                  <a:srgbClr val="0284C7"/>
                </a:solidFill>
                <a:latin typeface="Plus Jakarta Sans"/>
              </a:rPr>
              <a:t>Continuous CI/CD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143327"/>
            <a:ext cx="28575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Plus Jakarta Sans"/>
              </a:rPr>
              <a:t>SENTRY AI SECURITY — MASTER TEMPLATE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68025" y="6143327"/>
            <a:ext cx="10001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Plus Jakarta Sans"/>
              </a:rPr>
              <a:t>SLIDE 01 / 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6800" y="604837"/>
            <a:ext cx="2928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Space Grotesk"/>
              </a:rPr>
              <a:t>SENTRY SECURITY MASTER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1711225"/>
            <a:ext cx="34170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FRAMEWORK SPECIFICATION v2.4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057900"/>
            <a:ext cx="109728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591550" y="685800"/>
            <a:ext cx="2990850" cy="371475"/>
          </a:xfrm>
          <a:prstGeom prst="roundRect">
            <a:avLst>
              <a:gd name="adj" fmla="val 2051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2652712"/>
            <a:ext cx="2600325" cy="1809750"/>
          </a:xfrm>
          <a:prstGeom prst="roundRect">
            <a:avLst>
              <a:gd name="adj" fmla="val 631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00425" y="2652712"/>
            <a:ext cx="2600325" cy="1809750"/>
          </a:xfrm>
          <a:prstGeom prst="roundRect">
            <a:avLst>
              <a:gd name="adj" fmla="val 631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91250" y="2652712"/>
            <a:ext cx="2600325" cy="1809750"/>
          </a:xfrm>
          <a:prstGeom prst="roundRect">
            <a:avLst>
              <a:gd name="adj" fmla="val 631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82075" y="2652712"/>
            <a:ext cx="2600325" cy="1809750"/>
          </a:xfrm>
          <a:prstGeom prst="roundRect">
            <a:avLst>
              <a:gd name="adj" fmla="val 631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6057900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4452937"/>
            <a:ext cx="26003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2652712"/>
            <a:ext cx="2600325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2652712"/>
            <a:ext cx="9525" cy="18097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0" y="2652712"/>
            <a:ext cx="9525" cy="18097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0425" y="4452937"/>
            <a:ext cx="26003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00425" y="2652712"/>
            <a:ext cx="2600325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0425" y="2652712"/>
            <a:ext cx="9525" cy="18097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91225" y="2652712"/>
            <a:ext cx="9525" cy="18097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1250" y="4452937"/>
            <a:ext cx="26003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1250" y="2652712"/>
            <a:ext cx="2600325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1250" y="2652712"/>
            <a:ext cx="9525" cy="18097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82050" y="2652712"/>
            <a:ext cx="9525" cy="18097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82075" y="4452937"/>
            <a:ext cx="26003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82075" y="2652712"/>
            <a:ext cx="2600325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2075" y="2652712"/>
            <a:ext cx="9525" cy="18097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572875" y="2652712"/>
            <a:ext cx="9525" cy="18097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957512"/>
            <a:ext cx="381000" cy="3810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550" y="2957512"/>
            <a:ext cx="381000" cy="3810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75" y="2957512"/>
            <a:ext cx="381000" cy="3810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0200" y="2957512"/>
            <a:ext cx="381000" cy="3810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975" y="3062287"/>
            <a:ext cx="190500" cy="1714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52850" y="3062287"/>
            <a:ext cx="152400" cy="1714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4150" y="3062287"/>
            <a:ext cx="171450" cy="1714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01162" y="3062287"/>
            <a:ext cx="219075" cy="1714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743950" y="762000"/>
            <a:ext cx="27813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75569"/>
                </a:solidFill>
                <a:latin typeface="Plus Jakarta Sans"/>
              </a:rPr>
              <a:t>MASTER RULE: INPUT/OUTPUT BOUNDARIES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600" y="6219825"/>
            <a:ext cx="2631281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Plus Jakarta Sans"/>
              </a:rPr>
              <a:t>SENTRY AI SECURITY — THREAT MATRIX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48975" y="6219825"/>
            <a:ext cx="101917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Plus Jakarta Sans"/>
              </a:rPr>
              <a:t>SLIDE 02 / 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9600" y="457200"/>
            <a:ext cx="594121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Space Grotesk"/>
              </a:rPr>
              <a:t>THREAT SURFACE ANALYSIS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600" y="676275"/>
            <a:ext cx="6238279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Transformer Vulnerability Matrix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7725" y="3471862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Prompt Injection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7725" y="3824287"/>
            <a:ext cx="22193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Direct context window overrides.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38550" y="3471862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Data Poisoning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38550" y="3824287"/>
            <a:ext cx="22193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Corrupted alignment dataset payloads.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9375" y="3471862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Model Inversion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29375" y="3824287"/>
            <a:ext cx="22193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Training weights memory extraction.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20200" y="3471862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Tool Misuse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20200" y="3824287"/>
            <a:ext cx="22193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Unsanitized function call privilege escalation.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057900"/>
            <a:ext cx="109728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534400" y="2527994"/>
            <a:ext cx="3048000" cy="2059185"/>
          </a:xfrm>
          <a:prstGeom prst="roundRect">
            <a:avLst>
              <a:gd name="adj" fmla="val 74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6057900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705850" y="923925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267950" y="923925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390775"/>
            <a:ext cx="10972800" cy="23336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6219825"/>
            <a:ext cx="3393281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Plus Jakarta Sans"/>
              </a:rPr>
              <a:t>SENTRY AI SECURITY — BENCHMARK 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48975" y="6219825"/>
            <a:ext cx="101917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Plus Jakarta Sans"/>
              </a:rPr>
              <a:t>SLIDE 03 / 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57200"/>
            <a:ext cx="70008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Space Grotesk"/>
              </a:rPr>
              <a:t>EVALUATION BENCHMARK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76275"/>
            <a:ext cx="7350918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Attack Success Rate (ASR) Reduction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85634" y="2842319"/>
            <a:ext cx="2345531" cy="647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100"/>
              </a:lnSpc>
            </a:pPr>
            <a:r>
              <a:rPr b="1" sz="5100" i="0" u="none">
                <a:solidFill>
                  <a:srgbClr val="0284C7"/>
                </a:solidFill>
                <a:latin typeface="Space Grotesk"/>
              </a:rPr>
              <a:t>94.2%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77275" y="3604319"/>
            <a:ext cx="2762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Overall Defense Efficiency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98681" y="3899594"/>
            <a:ext cx="3119437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Tested against 15,000 automated red-team evaluation prompts.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6350" y="904875"/>
            <a:ext cx="14763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Unprotected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58450" y="904875"/>
            <a:ext cx="14097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SENTRY Hardened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057900"/>
            <a:ext cx="109728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671762"/>
            <a:ext cx="3321099" cy="1771650"/>
          </a:xfrm>
          <a:prstGeom prst="roundRect">
            <a:avLst>
              <a:gd name="adj" fmla="val 645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435524" y="2671762"/>
            <a:ext cx="3321099" cy="1771650"/>
          </a:xfrm>
          <a:prstGeom prst="roundRect">
            <a:avLst>
              <a:gd name="adj" fmla="val 645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61449" y="2671762"/>
            <a:ext cx="3321099" cy="1771650"/>
          </a:xfrm>
          <a:prstGeom prst="roundRect">
            <a:avLst>
              <a:gd name="adj" fmla="val 645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6057900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5825" y="2986087"/>
            <a:ext cx="723900" cy="238125"/>
          </a:xfrm>
          <a:prstGeom prst="roundRect">
            <a:avLst>
              <a:gd name="adj" fmla="val 24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711749" y="2986087"/>
            <a:ext cx="742950" cy="238125"/>
          </a:xfrm>
          <a:prstGeom prst="roundRect">
            <a:avLst>
              <a:gd name="adj" fmla="val 24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37674" y="2986087"/>
            <a:ext cx="742950" cy="238125"/>
          </a:xfrm>
          <a:prstGeom prst="roundRect">
            <a:avLst>
              <a:gd name="adj" fmla="val 24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1199" y="3462337"/>
            <a:ext cx="123825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7124" y="3462337"/>
            <a:ext cx="123825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9899" y="3019425"/>
            <a:ext cx="190500" cy="1714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34873" y="3019425"/>
            <a:ext cx="171450" cy="1714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429750" y="885825"/>
            <a:ext cx="26908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Automated Closed-Loop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219825"/>
            <a:ext cx="3119437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Plus Jakarta Sans"/>
              </a:rPr>
              <a:t>SENTRY AI SECURITY — PIPELINE 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39450" y="6219825"/>
            <a:ext cx="10287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Plus Jakarta Sans"/>
              </a:rPr>
              <a:t>SLIDE 04 / 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457200"/>
            <a:ext cx="616743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Space Grotesk"/>
              </a:rPr>
              <a:t>METHODOLOGY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76275"/>
            <a:ext cx="6475809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3-Stage Red-Teaming Workflow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825" y="3376612"/>
            <a:ext cx="363385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Automated Probing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825" y="3767137"/>
            <a:ext cx="2863899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Multi-modal adversarial test vector generation.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11749" y="3376612"/>
            <a:ext cx="363385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Guardrail Stressing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11749" y="3767137"/>
            <a:ext cx="2863899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Real-time filter pass-through rate auditing.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37674" y="3376612"/>
            <a:ext cx="363385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Risk Mapping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37674" y="3767137"/>
            <a:ext cx="2863899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Automated MITRE ATT&amp;CK matrix indexing.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1075" y="3024187"/>
            <a:ext cx="6286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Space Grotesk"/>
              </a:rPr>
              <a:t>STAGE 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6999" y="3024187"/>
            <a:ext cx="6477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Space Grotesk"/>
              </a:rPr>
              <a:t>STAGE 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32924" y="3024187"/>
            <a:ext cx="6477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Space Grotesk"/>
              </a:rPr>
              <a:t>STAGE 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057900"/>
            <a:ext cx="109728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738437"/>
            <a:ext cx="3505200" cy="1638300"/>
          </a:xfrm>
          <a:prstGeom prst="roundRect">
            <a:avLst>
              <a:gd name="adj" fmla="val 697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43400" y="2738437"/>
            <a:ext cx="3505200" cy="1638300"/>
          </a:xfrm>
          <a:prstGeom prst="roundRect">
            <a:avLst>
              <a:gd name="adj" fmla="val 697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77200" y="2738437"/>
            <a:ext cx="3505200" cy="1638300"/>
          </a:xfrm>
          <a:prstGeom prst="roundRect">
            <a:avLst>
              <a:gd name="adj" fmla="val 697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6057900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500" y="714375"/>
            <a:ext cx="342900" cy="3429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5225" y="800100"/>
            <a:ext cx="171450" cy="17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6219825"/>
            <a:ext cx="351234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Plus Jakarta Sans"/>
              </a:rPr>
              <a:t>SENTRY AI SECURITY — GOVERNANCE &amp; ROADMAP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48975" y="6219825"/>
            <a:ext cx="101917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Plus Jakarta Sans"/>
              </a:rPr>
              <a:t>SLIDE 05 / 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57200"/>
            <a:ext cx="941784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Space Grotesk"/>
              </a:rPr>
              <a:t>ENTERPRISE ROADMAP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76275"/>
            <a:ext cx="9888735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Securing Transformer Systems at Production 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43075" y="3052762"/>
            <a:ext cx="123825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0284C7"/>
                </a:solidFill>
                <a:latin typeface="Space Grotesk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57325" y="3614737"/>
            <a:ext cx="1809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Automated Probing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7262" y="3890962"/>
            <a:ext cx="2809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Continuous threat surface scanning.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05375" y="3052762"/>
            <a:ext cx="238125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0284C7"/>
                </a:solidFill>
                <a:latin typeface="Space Grotesk"/>
              </a:rPr>
              <a:t>Zero-Trust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62562" y="3614737"/>
            <a:ext cx="1666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Inference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64906" y="3890962"/>
            <a:ext cx="22621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Strict input-output validation.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07065" y="3052762"/>
            <a:ext cx="1845468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0284C7"/>
                </a:solidFill>
                <a:latin typeface="Space Grotesk"/>
              </a:rPr>
              <a:t>&lt; 24 hrs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8503" y="3614737"/>
            <a:ext cx="17025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Remediation Loop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14159" y="3890962"/>
            <a:ext cx="263128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Rapid security patch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