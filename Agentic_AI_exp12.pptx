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</ns0:sldIdLst>
  <ns0:sldSz cx="12192000" cy="6858000" type="screen4x3"/>
  <ns0:notesSz cx="6858000" cy="9144000"/>
  <ns0:embeddedFontLst>
    <ns0:embeddedFont>
      <ns0:font typeface="Plus Jakarta Sans"/>
      <ns0:bold ns1:id="rIdFont12"/>
      <ns0:regular ns1:id="rIdFont13"/>
    </ns0:embeddedFont>
    <ns0:embeddedFont>
      <ns0:font typeface="Space Grotesk"/>
      <ns0:bold ns1:id="rIdFont14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Font12" Type="http://schemas.openxmlformats.org/officeDocument/2006/relationships/font" Target="fonts/fe3a730a-ba04-4464-b344-815506731d7f.fntdata" /><ns0:Relationship Id="rIdFont13" Type="http://schemas.openxmlformats.org/officeDocument/2006/relationships/font" Target="fonts/ca4221e0-a529-4f03-90b2-dd0b78577eaa.fntdata" /><ns0:Relationship Id="rIdFont14" Type="http://schemas.openxmlformats.org/officeDocument/2006/relationships/font" Target="fonts/edf8f8fe-b216-4e0d-bce4-e9a659dc0100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image" Target="../media/image9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5581650"/>
            <a:ext cx="10972800" cy="6667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286875" y="609600"/>
            <a:ext cx="2295525" cy="333375"/>
          </a:xfrm>
          <a:prstGeom prst="roundRect">
            <a:avLst>
              <a:gd name="adj" fmla="val 50000"/>
            </a:avLst>
          </a:prstGeom>
          <a:solidFill>
            <a:srgbClr val="0E1F2D"/>
          </a:solidFill>
          <a:ln w="9525">
            <a:solidFill>
              <a:srgbClr val="1742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00" y="5581650"/>
            <a:ext cx="1097280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661987"/>
            <a:ext cx="228600" cy="228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439275" y="666750"/>
            <a:ext cx="2085975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38BDF8"/>
                </a:solidFill>
                <a:latin typeface="Plus Jakarta Sans"/>
              </a:rPr>
              <a:t>NIST AI RMF &amp; OWASP LLM TOP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2155626"/>
            <a:ext cx="1071562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Space Grotesk"/>
              </a:rPr>
              <a:t>FRAMEWORK SPECIFICATION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2517576"/>
            <a:ext cx="9101137" cy="10894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290"/>
              </a:lnSpc>
            </a:pPr>
            <a:r>
              <a:rPr b="1" sz="3900" i="0" u="none">
                <a:solidFill>
                  <a:srgbClr val="F8FAFC"/>
                </a:solidFill>
                <a:latin typeface="Space Grotesk"/>
              </a:rPr>
              <a:t>SENTRY: Security Evaluation &amp; Red-Teaming for Transformers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3797498"/>
            <a:ext cx="73342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0" sz="1500" i="0" u="none">
                <a:solidFill>
                  <a:srgbClr val="94A3B8"/>
                </a:solidFill>
                <a:latin typeface="Plus Jakarta Sans"/>
              </a:rPr>
              <a:t>Automated stress-testing, goal-misalignment probing, and defense verification for enterprise neural architectures.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2500" y="690562"/>
            <a:ext cx="204787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8BDF8"/>
                </a:solidFill>
                <a:latin typeface="Space Grotesk"/>
              </a:rPr>
              <a:t>SENTRY AI SECURITY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5857875"/>
            <a:ext cx="2559843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64748B"/>
                </a:solidFill>
                <a:latin typeface="Plus Jakarta Sans"/>
              </a:rPr>
              <a:t>TARGET DEPLOYMENT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6048375"/>
            <a:ext cx="2559843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E2E8F0"/>
                </a:solidFill>
                <a:latin typeface="Plus Jakarta Sans"/>
              </a:rPr>
              <a:t>Neural Transformer Systems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38475" y="5857875"/>
            <a:ext cx="28575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64748B"/>
                </a:solidFill>
                <a:latin typeface="Plus Jakarta Sans"/>
              </a:rPr>
              <a:t>PRIMARY DOMAIN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38475" y="6048375"/>
            <a:ext cx="28575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E2E8F0"/>
                </a:solidFill>
                <a:latin typeface="Plus Jakarta Sans"/>
              </a:rPr>
              <a:t>Adversarial AI Safety &amp; Security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05475" y="5857875"/>
            <a:ext cx="2917031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64748B"/>
                </a:solidFill>
                <a:latin typeface="Plus Jakarta Sans"/>
              </a:rPr>
              <a:t>EVALUATION CADENCE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05475" y="6048375"/>
            <a:ext cx="2917031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E2E8F0"/>
                </a:solidFill>
                <a:latin typeface="Plus Jakarta Sans"/>
              </a:rPr>
              <a:t>Continuous CI/CD Red-Teaming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967037"/>
            <a:ext cx="2571750" cy="1914525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409950" y="2967037"/>
            <a:ext cx="2571750" cy="1914525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210300" y="2967037"/>
            <a:ext cx="2571750" cy="1914525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010650" y="2967037"/>
            <a:ext cx="2571750" cy="1914525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825" y="3243262"/>
            <a:ext cx="419100" cy="4191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6175" y="3243262"/>
            <a:ext cx="419100" cy="4191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6525" y="3243262"/>
            <a:ext cx="419100" cy="4191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86875" y="3243262"/>
            <a:ext cx="419100" cy="4191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5837" y="3357562"/>
            <a:ext cx="219075" cy="1905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10000" y="3357562"/>
            <a:ext cx="171450" cy="1905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00825" y="3357562"/>
            <a:ext cx="190500" cy="1905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377362" y="3357562"/>
            <a:ext cx="238125" cy="1905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296150" y="742950"/>
            <a:ext cx="42862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b="0" sz="1200" i="0" u="none">
                <a:solidFill>
                  <a:srgbClr val="64748B"/>
                </a:solidFill>
                <a:latin typeface="Plus Jakarta Sans"/>
              </a:rPr>
              <a:t>SENTRY targets key structural attack surfaces in transformer-based inference models.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533400"/>
            <a:ext cx="5941218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Space Grotesk"/>
              </a:rPr>
              <a:t>THREAT SURFACE ANALYSIS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600" y="762000"/>
            <a:ext cx="6238279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Transformer Vulnerability Matrix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5825" y="3814762"/>
            <a:ext cx="2650331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Prompt Injection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5825" y="4205287"/>
            <a:ext cx="2114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Plus Jakarta Sans"/>
              </a:rPr>
              <a:t>Direct system prompt overrides.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86175" y="3814762"/>
            <a:ext cx="2650331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Data Poisoning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86175" y="4205287"/>
            <a:ext cx="2114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Plus Jakarta Sans"/>
              </a:rPr>
              <a:t>Corrupted fine-tuning corpuses.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86525" y="3814762"/>
            <a:ext cx="2650331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Model Inversion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86525" y="4205287"/>
            <a:ext cx="252412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Plus Jakarta Sans"/>
              </a:rPr>
              <a:t>Training set data extraction.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86875" y="3814762"/>
            <a:ext cx="2650331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Tool Misuse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86875" y="4205287"/>
            <a:ext cx="2114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Plus Jakarta Sans"/>
              </a:rPr>
              <a:t>Unsanitized API call execution.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534400" y="2833687"/>
            <a:ext cx="3048000" cy="2143125"/>
          </a:xfrm>
          <a:prstGeom prst="roundRect">
            <a:avLst>
              <a:gd name="adj" fmla="val 711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563100" y="1000125"/>
            <a:ext cx="114300" cy="114300"/>
          </a:xfrm>
          <a:prstGeom prst="roundRect">
            <a:avLst>
              <a:gd name="adj" fmla="val 25000"/>
            </a:avLst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525125" y="1000125"/>
            <a:ext cx="114300" cy="114300"/>
          </a:xfrm>
          <a:prstGeom prst="roundRect">
            <a:avLst>
              <a:gd name="adj" fmla="val 25000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485900"/>
            <a:ext cx="10972800" cy="48387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9600" y="533400"/>
            <a:ext cx="700087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Space Grotesk"/>
              </a:rPr>
              <a:t>EVALUATION BENCHMARK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762000"/>
            <a:ext cx="7350918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Attack Success Rate (ASR) Reduction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66634" y="3186112"/>
            <a:ext cx="1583531" cy="685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5400"/>
              </a:lnSpc>
            </a:pPr>
            <a:r>
              <a:rPr b="1" sz="5400" i="0" u="none">
                <a:solidFill>
                  <a:srgbClr val="0284C7"/>
                </a:solidFill>
                <a:latin typeface="Space Grotesk"/>
              </a:rPr>
              <a:t>91%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79681" y="3986212"/>
            <a:ext cx="2357437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0F172A"/>
                </a:solidFill>
                <a:latin typeface="Plus Jakarta Sans"/>
              </a:rPr>
              <a:t>Overall ASR Reduction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46306" y="4281487"/>
            <a:ext cx="3024187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64748B"/>
                </a:solidFill>
                <a:latin typeface="Plus Jakarta Sans"/>
              </a:rPr>
              <a:t>Measured across 10,000 automated red-team evaluation runs.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53600" y="971550"/>
            <a:ext cx="82867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64748B"/>
                </a:solidFill>
                <a:latin typeface="Plus Jakarta Sans"/>
              </a:rPr>
              <a:t>Baseline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15625" y="971550"/>
            <a:ext cx="115252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64748B"/>
                </a:solidFill>
                <a:latin typeface="Plus Jakarta Sans"/>
              </a:rPr>
              <a:t>Post-SENTRY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071812"/>
            <a:ext cx="3321099" cy="1704975"/>
          </a:xfrm>
          <a:prstGeom prst="roundRect">
            <a:avLst>
              <a:gd name="adj" fmla="val 670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435524" y="3071812"/>
            <a:ext cx="3321099" cy="1704975"/>
          </a:xfrm>
          <a:prstGeom prst="roundRect">
            <a:avLst>
              <a:gd name="adj" fmla="val 670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61449" y="3071812"/>
            <a:ext cx="3321099" cy="1704975"/>
          </a:xfrm>
          <a:prstGeom prst="roundRect">
            <a:avLst>
              <a:gd name="adj" fmla="val 670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1199" y="3829050"/>
            <a:ext cx="123825" cy="1905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47124" y="3829050"/>
            <a:ext cx="123825" cy="1905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89899" y="3386137"/>
            <a:ext cx="190500" cy="1714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34873" y="3386137"/>
            <a:ext cx="171450" cy="1714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105650" y="942975"/>
            <a:ext cx="508635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Plus Jakarta Sans"/>
              </a:rPr>
              <a:t>Structured execution from discovery to automated mitigation.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533400"/>
            <a:ext cx="6167437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Space Grotesk"/>
              </a:rPr>
              <a:t>METHODOLOGY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762000"/>
            <a:ext cx="6475809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3-Stage Red-Teaming Workflow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5825" y="3709987"/>
            <a:ext cx="3633852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Automated Probing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5825" y="4100512"/>
            <a:ext cx="2863899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Plus Jakarta Sans"/>
              </a:rPr>
              <a:t>Multi-modal adversarial test prompt generation.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11749" y="3709987"/>
            <a:ext cx="3633852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Guardrail Stressing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11749" y="4100512"/>
            <a:ext cx="2863899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Plus Jakarta Sans"/>
              </a:rPr>
              <a:t>Evaluation of safety filter pass-through rates.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37674" y="3709987"/>
            <a:ext cx="3633852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Risk Mapping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37674" y="4100512"/>
            <a:ext cx="2863899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Plus Jakarta Sans"/>
              </a:rPr>
              <a:t>Direct mapping into MITRE ATT&amp;CK matrix.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5825" y="3386137"/>
            <a:ext cx="85725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Space Grotesk"/>
              </a:rPr>
              <a:t>STAGE 01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11749" y="3386137"/>
            <a:ext cx="8763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Space Grotesk"/>
              </a:rPr>
              <a:t>STAGE 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37674" y="3386137"/>
            <a:ext cx="88582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Space Grotesk"/>
              </a:rPr>
              <a:t>STAGE 03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5838825"/>
            <a:ext cx="10972800" cy="4095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333500" y="3320355"/>
            <a:ext cx="2971800" cy="1590675"/>
          </a:xfrm>
          <a:prstGeom prst="roundRect">
            <a:avLst>
              <a:gd name="adj" fmla="val 7185"/>
            </a:avLst>
          </a:prstGeom>
          <a:solidFill>
            <a:srgbClr val="161B26"/>
          </a:solidFill>
          <a:ln w="9525">
            <a:solidFill>
              <a:srgbClr val="272F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610100" y="3320355"/>
            <a:ext cx="2971800" cy="1590675"/>
          </a:xfrm>
          <a:prstGeom prst="roundRect">
            <a:avLst>
              <a:gd name="adj" fmla="val 7185"/>
            </a:avLst>
          </a:prstGeom>
          <a:solidFill>
            <a:srgbClr val="161B26"/>
          </a:solidFill>
          <a:ln w="9525">
            <a:solidFill>
              <a:srgbClr val="272F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886700" y="3320355"/>
            <a:ext cx="2971800" cy="1590675"/>
          </a:xfrm>
          <a:prstGeom prst="roundRect">
            <a:avLst>
              <a:gd name="adj" fmla="val 7185"/>
            </a:avLst>
          </a:prstGeom>
          <a:solidFill>
            <a:srgbClr val="161B26"/>
          </a:solidFill>
          <a:ln w="9525">
            <a:solidFill>
              <a:srgbClr val="272F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5838825"/>
            <a:ext cx="1097280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4550" y="609600"/>
            <a:ext cx="342900" cy="3429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00625" y="1143000"/>
            <a:ext cx="219075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38BDF8"/>
                </a:solidFill>
                <a:latin typeface="Space Grotesk"/>
              </a:rPr>
              <a:t>ENTERPRISE ROADMAP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5375" y="1428750"/>
            <a:ext cx="10001250" cy="9638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3795"/>
              </a:lnSpc>
            </a:pPr>
            <a:r>
              <a:rPr b="1" sz="3300" i="0" u="none">
                <a:solidFill>
                  <a:srgbClr val="F8FAFC"/>
                </a:solidFill>
                <a:latin typeface="Space Grotesk"/>
              </a:rPr>
              <a:t>Securing Transformer Systems at Production Scale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33750" y="6076950"/>
            <a:ext cx="55245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64748B"/>
                </a:solidFill>
                <a:latin typeface="Plus Jakarta Sans"/>
              </a:rPr>
              <a:t>SENTRY Security Framework — Neural Transformer Evaluation Standard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52662" y="3634680"/>
            <a:ext cx="1133475" cy="438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2700" i="0" u="none">
                <a:solidFill>
                  <a:srgbClr val="38BDF8"/>
                </a:solidFill>
                <a:latin typeface="Space Grotesk"/>
              </a:rPr>
              <a:t>100%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14525" y="4149030"/>
            <a:ext cx="180975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F1F5F9"/>
                </a:solidFill>
                <a:latin typeface="Plus Jakarta Sans"/>
              </a:rPr>
              <a:t>Automated Probing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81150" y="4425255"/>
            <a:ext cx="24765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94A3B8"/>
                </a:solidFill>
                <a:latin typeface="Plus Jakarta Sans"/>
              </a:rPr>
              <a:t>Continuous threat surface scan.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4437" y="3634680"/>
            <a:ext cx="2143125" cy="438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2700" i="0" u="none">
                <a:solidFill>
                  <a:srgbClr val="38BDF8"/>
                </a:solidFill>
                <a:latin typeface="Space Grotesk"/>
              </a:rPr>
              <a:t>Zero-Trust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62562" y="4149030"/>
            <a:ext cx="16668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F1F5F9"/>
                </a:solidFill>
                <a:latin typeface="Plus Jakarta Sans"/>
              </a:rPr>
              <a:t>Inference Pipeline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05375" y="4425255"/>
            <a:ext cx="238125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94A3B8"/>
                </a:solidFill>
                <a:latin typeface="Plus Jakarta Sans"/>
              </a:rPr>
              <a:t>Strict input-output sanitization.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51068" y="3634680"/>
            <a:ext cx="1643062" cy="438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2700" i="0" u="none">
                <a:solidFill>
                  <a:srgbClr val="38BDF8"/>
                </a:solidFill>
                <a:latin typeface="Space Grotesk"/>
              </a:rPr>
              <a:t>&lt; 24 hrs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21303" y="4149030"/>
            <a:ext cx="1702593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F1F5F9"/>
                </a:solidFill>
                <a:latin typeface="Plus Jakarta Sans"/>
              </a:rPr>
              <a:t>Remediation Loop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56959" y="4425255"/>
            <a:ext cx="2631281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94A3B8"/>
                </a:solidFill>
                <a:latin typeface="Plus Jakarta Sans"/>
              </a:rPr>
              <a:t>Rapid security patch deployment.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